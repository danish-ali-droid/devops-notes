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7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72"/>
              </a:spcAft>
              <a:buNone/>
            </a:pPr>
            <a:endParaRPr b="0" lang="en-US" sz="2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395D30-7BB2-4B1C-B550-CD7803FBE0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7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F4F4F5-A0C6-4A4D-BD82-2C7EE3385D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rot="16200000">
            <a:off x="43920" y="538920"/>
            <a:ext cx="855000" cy="72000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"/>
          <p:cNvSpPr/>
          <p:nvPr/>
        </p:nvSpPr>
        <p:spPr>
          <a:xfrm>
            <a:off x="7640280" y="100800"/>
            <a:ext cx="1201320" cy="37080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dist="0" dir="0" blurRad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270000" y="180000"/>
            <a:ext cx="9540000" cy="4860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01823" dir="2700000" blurRad="3816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1400" spc="-1" strike="noStrike">
              <a:solidFill>
                <a:srgbClr val="eeeeee"/>
              </a:solidFill>
              <a:latin typeface="Arial"/>
            </a:endParaRPr>
          </a:p>
        </p:txBody>
      </p:sp>
      <p:sp>
        <p:nvSpPr>
          <p:cNvPr id="3" name="rest2"/>
          <p:cNvSpPr/>
          <p:nvPr/>
        </p:nvSpPr>
        <p:spPr>
          <a:xfrm>
            <a:off x="7969320" y="162360"/>
            <a:ext cx="905400" cy="114372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270000" y="471600"/>
            <a:ext cx="8931600" cy="63000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dist="17819" dir="2700000" blurRad="126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947520" indent="-216000">
              <a:spcAft>
                <a:spcPts val="1372"/>
              </a:spcAft>
              <a:buClr>
                <a:srgbClr val="ffffff"/>
              </a:buClr>
              <a:buSzPct val="5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Times New Roman"/>
              </a:rPr>
              <a:t>Click to edit the outline text format</a:t>
            </a:r>
            <a:endParaRPr b="0" lang="en-US" sz="2600" spc="-1" strike="noStrike">
              <a:solidFill>
                <a:srgbClr val="ffffff"/>
              </a:solidFill>
              <a:latin typeface="Times New Roman"/>
            </a:endParaRPr>
          </a:p>
          <a:p>
            <a:pPr lvl="1" marL="432000" indent="-216000">
              <a:spcAft>
                <a:spcPts val="84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Times New Roman"/>
              </a:rPr>
              <a:t>Second Outline Level</a:t>
            </a:r>
            <a:endParaRPr b="0" lang="en-US" sz="2600" spc="-1" strike="noStrike">
              <a:solidFill>
                <a:srgbClr val="ffffff"/>
              </a:solidFill>
              <a:latin typeface="Times New Roman"/>
            </a:endParaRPr>
          </a:p>
          <a:p>
            <a:pPr lvl="2" marL="648000" indent="-216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Times New Roman"/>
              </a:rPr>
              <a:t>Third Outline Level</a:t>
            </a:r>
            <a:endParaRPr b="0" lang="en-US" sz="2600" spc="-1" strike="noStrike">
              <a:solidFill>
                <a:srgbClr val="ffffff"/>
              </a:solidFill>
              <a:latin typeface="Times New Roman"/>
            </a:endParaRPr>
          </a:p>
          <a:p>
            <a:pPr lvl="3" marL="864000" indent="-216000">
              <a:spcAft>
                <a:spcPts val="42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Times New Roman"/>
              </a:rPr>
              <a:t>Fourth Outline Level</a:t>
            </a:r>
            <a:endParaRPr b="0" lang="en-US" sz="2600" spc="-1" strike="noStrike">
              <a:solidFill>
                <a:srgbClr val="ffffff"/>
              </a:solidFill>
              <a:latin typeface="Times New Roman"/>
            </a:endParaRPr>
          </a:p>
          <a:p>
            <a:pPr lvl="4" marL="1080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Times New Roman"/>
              </a:rPr>
              <a:t>Fifth Outline Level</a:t>
            </a:r>
            <a:endParaRPr b="0" lang="en-US" sz="2600" spc="-1" strike="noStrike">
              <a:solidFill>
                <a:srgbClr val="ffffff"/>
              </a:solidFill>
              <a:latin typeface="Times New Roman"/>
            </a:endParaRPr>
          </a:p>
          <a:p>
            <a:pPr lvl="5" marL="1296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Times New Roman"/>
              </a:rPr>
              <a:t>Sixth Outline Level</a:t>
            </a:r>
            <a:endParaRPr b="0" lang="en-US" sz="2600" spc="-1" strike="noStrike">
              <a:solidFill>
                <a:srgbClr val="ffffff"/>
              </a:solidFill>
              <a:latin typeface="Times New Roman"/>
            </a:endParaRPr>
          </a:p>
          <a:p>
            <a:pPr lvl="6" marL="1512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Times New Roman"/>
              </a:rPr>
              <a:t>Seventh Outline Level</a:t>
            </a:r>
            <a:endParaRPr b="0" lang="en-US" sz="2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ffffff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eeeeee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eeeeee"/>
              </a:solidFill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2DC8569C-69F4-4955-B1BA-4E6AC3987338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eeeeee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11600" y="471600"/>
            <a:ext cx="248400" cy="63000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ect1"/>
          <p:cNvSpPr/>
          <p:nvPr/>
        </p:nvSpPr>
        <p:spPr>
          <a:xfrm>
            <a:off x="7969320" y="100800"/>
            <a:ext cx="904680" cy="7920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Module 1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Times New Roman"/>
              </a:rPr>
              <a:t>Introduction to DevOps</a:t>
            </a:r>
            <a:endParaRPr b="0" lang="en-US" sz="4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Introduction to DevOps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33560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  <a:p>
            <a:pPr marL="39888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 traditional working style, developers only write code and operations team only manage servers.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39888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Because they worked separately, software delivery used to be slow and full of issues.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39888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DevOps solves this problem by bringing both teams together, using automation, tools, and continuous processes so software can be delivered faster, safer, and more reliable.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39888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                       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DevOps = Development + Operations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39888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is a culture + practices + tools that help developers and operations teams work together.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DevOps Goals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Fast software delivery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Better quality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Fewer errors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Continuous improvement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Automation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Scalability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216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Why DevOps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Software deliver fast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Reduce bugs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Automate boring tasks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Faster updates and deployments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Better connection between Dev team and Ops team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High stability &amp; reliability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216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How DevOps Work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Plan: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Teams decide requirements, features, and tasks.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Code: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Developers write the code and make changes.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Build: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Code is compiled and converted into an application.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Test: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Automated tests run to find bugs or errors.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Deploy: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The application is released to the server or production.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Operate: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System is managed and kept running smoothly.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Monitor: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Logs, performance, and issues are continuously checked.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216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DevOps Main Tools 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9960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456"/>
          </a:bodyPr>
          <a:p>
            <a:pPr marL="49032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For CI/CD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Jenkins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GitHub Actions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GitLab CI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For Version Control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Git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GitHub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For Container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Docker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DevOps Main Tools 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9960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456"/>
          </a:bodyPr>
          <a:p>
            <a:pPr marL="49032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For Orchestration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Kubernetes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For Monitoring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Prometheus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Grafana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For Configuration Management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Ansible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Puppet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Chef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Benefits of DevOps 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9960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9032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Faster release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More secure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Stable environment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Efficient team work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Less downtime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Repeatable and automated processes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Real Life Example 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9960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90320" indent="0">
              <a:spcBef>
                <a:spcPts val="1191"/>
              </a:spcBef>
              <a:spcAft>
                <a:spcPts val="992"/>
              </a:spcAft>
              <a:buNone/>
            </a:pP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Before DevOps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Developers gave code late to Operations.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Deployment was manual, which caused more errors.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4903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After DevOps</a:t>
            </a:r>
            <a:endParaRPr b="1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-216000"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Code is automatically built, tested, and deployed.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94752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2025-12-11T11:55:06Z</dcterms:created>
  <dc:creator/>
  <dc:description/>
  <dc:language>en-US</dc:language>
  <cp:lastModifiedBy/>
  <dcterms:modified xsi:type="dcterms:W3CDTF">2025-12-11T14:31:01Z</dcterms:modified>
  <cp:revision>2</cp:revision>
  <dc:subject/>
  <dc:title>Inspiration</dc:title>
</cp:coreProperties>
</file>