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nspi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924F4C2-77A0-4530-802D-0CDF986E29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D7BFE50-A37E-415C-AE2F-A45F320ED4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832137C-3529-4B89-8187-D26369084A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6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rot="16200000">
            <a:off x="43920" y="540360"/>
            <a:ext cx="853560" cy="718560"/>
          </a:xfrm>
          <a:prstGeom prst="parallelogram">
            <a:avLst>
              <a:gd name="adj" fmla="val 30987"/>
            </a:avLst>
          </a:prstGeom>
          <a:solidFill>
            <a:srgbClr val="b5e77d">
              <a:alpha val="49000"/>
            </a:srgbClr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" name=""/>
          <p:cNvSpPr/>
          <p:nvPr/>
        </p:nvSpPr>
        <p:spPr>
          <a:xfrm>
            <a:off x="7640280" y="100800"/>
            <a:ext cx="1199880" cy="369360"/>
          </a:xfrm>
          <a:prstGeom prst="parallelogram">
            <a:avLst>
              <a:gd name="adj" fmla="val 88517"/>
            </a:avLst>
          </a:prstGeom>
          <a:solidFill>
            <a:srgbClr val="81aca6">
              <a:alpha val="39000"/>
            </a:srgbClr>
          </a:solidFill>
          <a:ln w="10800">
            <a:noFill/>
          </a:ln>
          <a:effectLst>
            <a:outerShdw blurRad="0" dir="0" dist="0" rotWithShape="0">
              <a:srgbClr val="b2b2b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" name=""/>
          <p:cNvSpPr/>
          <p:nvPr/>
        </p:nvSpPr>
        <p:spPr>
          <a:xfrm>
            <a:off x="270000" y="180000"/>
            <a:ext cx="9538560" cy="4858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8160" dir="2700000" dist="101823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eeeeee"/>
              </a:solidFill>
              <a:latin typeface="Arial"/>
              <a:ea typeface="DejaVu Sans"/>
            </a:endParaRPr>
          </a:p>
        </p:txBody>
      </p:sp>
      <p:sp>
        <p:nvSpPr>
          <p:cNvPr id="3" name="rest2"/>
          <p:cNvSpPr/>
          <p:nvPr/>
        </p:nvSpPr>
        <p:spPr>
          <a:xfrm>
            <a:off x="7969320" y="162360"/>
            <a:ext cx="903960" cy="114228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" name=""/>
          <p:cNvSpPr/>
          <p:nvPr/>
        </p:nvSpPr>
        <p:spPr>
          <a:xfrm>
            <a:off x="270000" y="471600"/>
            <a:ext cx="8930160" cy="628560"/>
          </a:xfrm>
          <a:prstGeom prst="rect">
            <a:avLst/>
          </a:prstGeom>
          <a:solidFill>
            <a:srgbClr val="b5e77d"/>
          </a:solidFill>
          <a:ln w="10800">
            <a:solidFill>
              <a:srgbClr val="91d93f"/>
            </a:solidFill>
            <a:round/>
          </a:ln>
          <a:effectLst>
            <a:outerShdw blurRad="12600" dir="2700000" dist="16800" rotWithShape="0">
              <a:srgbClr val="b2b2b2">
                <a:alpha val="4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" name=""/>
          <p:cNvSpPr/>
          <p:nvPr/>
        </p:nvSpPr>
        <p:spPr>
          <a:xfrm>
            <a:off x="111600" y="471600"/>
            <a:ext cx="246960" cy="628560"/>
          </a:xfrm>
          <a:prstGeom prst="rect">
            <a:avLst/>
          </a:prstGeom>
          <a:solidFill>
            <a:srgbClr val="b5e77d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" name="rect1"/>
          <p:cNvSpPr/>
          <p:nvPr/>
        </p:nvSpPr>
        <p:spPr>
          <a:xfrm>
            <a:off x="7969320" y="100800"/>
            <a:ext cx="903240" cy="7776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4200" bIns="34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1"/>
          </p:nvPr>
        </p:nvSpPr>
        <p:spPr>
          <a:xfrm>
            <a:off x="3447360" y="5164920"/>
            <a:ext cx="319356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eeeee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7227000" y="5164920"/>
            <a:ext cx="234684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61E959-452F-4526-AB5D-CCD44386C4B2}" type="slidenum">
              <a:rPr b="0" lang="en-US" sz="1400" spc="-1" strike="noStrike">
                <a:solidFill>
                  <a:srgbClr val="eeeeee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3"/>
          </p:nvPr>
        </p:nvSpPr>
        <p:spPr>
          <a:xfrm>
            <a:off x="504000" y="5164920"/>
            <a:ext cx="234684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6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16200000">
            <a:off x="43920" y="540360"/>
            <a:ext cx="853560" cy="718560"/>
          </a:xfrm>
          <a:prstGeom prst="parallelogram">
            <a:avLst>
              <a:gd name="adj" fmla="val 30987"/>
            </a:avLst>
          </a:prstGeom>
          <a:solidFill>
            <a:srgbClr val="b5e77d">
              <a:alpha val="49000"/>
            </a:srgbClr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" name=""/>
          <p:cNvSpPr/>
          <p:nvPr/>
        </p:nvSpPr>
        <p:spPr>
          <a:xfrm>
            <a:off x="7640280" y="100800"/>
            <a:ext cx="1199880" cy="369360"/>
          </a:xfrm>
          <a:prstGeom prst="parallelogram">
            <a:avLst>
              <a:gd name="adj" fmla="val 88517"/>
            </a:avLst>
          </a:prstGeom>
          <a:solidFill>
            <a:srgbClr val="81aca6">
              <a:alpha val="39000"/>
            </a:srgbClr>
          </a:solidFill>
          <a:ln w="10800">
            <a:noFill/>
          </a:ln>
          <a:effectLst>
            <a:outerShdw blurRad="0" dir="0" dist="0" rotWithShape="0">
              <a:srgbClr val="b2b2b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" name=""/>
          <p:cNvSpPr/>
          <p:nvPr/>
        </p:nvSpPr>
        <p:spPr>
          <a:xfrm>
            <a:off x="270000" y="180000"/>
            <a:ext cx="9538560" cy="4858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8160" dir="2700000" dist="101823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eeeeee"/>
              </a:solidFill>
              <a:latin typeface="Arial"/>
              <a:ea typeface="DejaVu Sans"/>
            </a:endParaRPr>
          </a:p>
        </p:txBody>
      </p:sp>
      <p:sp>
        <p:nvSpPr>
          <p:cNvPr id="17" name="rest2"/>
          <p:cNvSpPr/>
          <p:nvPr/>
        </p:nvSpPr>
        <p:spPr>
          <a:xfrm>
            <a:off x="7969320" y="162360"/>
            <a:ext cx="903960" cy="114228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" name=""/>
          <p:cNvSpPr/>
          <p:nvPr/>
        </p:nvSpPr>
        <p:spPr>
          <a:xfrm>
            <a:off x="270000" y="471600"/>
            <a:ext cx="8930160" cy="628560"/>
          </a:xfrm>
          <a:prstGeom prst="rect">
            <a:avLst/>
          </a:prstGeom>
          <a:solidFill>
            <a:srgbClr val="b5e77d"/>
          </a:solidFill>
          <a:ln w="10800">
            <a:solidFill>
              <a:srgbClr val="91d93f"/>
            </a:solidFill>
            <a:round/>
          </a:ln>
          <a:effectLst>
            <a:outerShdw blurRad="12600" dir="2700000" dist="16800" rotWithShape="0">
              <a:srgbClr val="b2b2b2">
                <a:alpha val="4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" name=""/>
          <p:cNvSpPr/>
          <p:nvPr/>
        </p:nvSpPr>
        <p:spPr>
          <a:xfrm>
            <a:off x="111600" y="471600"/>
            <a:ext cx="246960" cy="628560"/>
          </a:xfrm>
          <a:prstGeom prst="rect">
            <a:avLst/>
          </a:prstGeom>
          <a:solidFill>
            <a:srgbClr val="b5e77d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" name="rect1"/>
          <p:cNvSpPr/>
          <p:nvPr/>
        </p:nvSpPr>
        <p:spPr>
          <a:xfrm>
            <a:off x="7969320" y="100800"/>
            <a:ext cx="903240" cy="7776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4200" bIns="34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4"/>
          </p:nvPr>
        </p:nvSpPr>
        <p:spPr>
          <a:xfrm>
            <a:off x="3447360" y="5164920"/>
            <a:ext cx="319356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eeeee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5"/>
          </p:nvPr>
        </p:nvSpPr>
        <p:spPr>
          <a:xfrm>
            <a:off x="7227000" y="5164920"/>
            <a:ext cx="234684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CECB29-155E-407F-8119-19A4BCD584D1}" type="slidenum">
              <a:rPr b="0" lang="en-US" sz="1400" spc="-1" strike="noStrike">
                <a:solidFill>
                  <a:srgbClr val="eeeeee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dt" idx="6"/>
          </p:nvPr>
        </p:nvSpPr>
        <p:spPr>
          <a:xfrm>
            <a:off x="504000" y="5164920"/>
            <a:ext cx="234684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66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 rot="16200000">
            <a:off x="43920" y="540360"/>
            <a:ext cx="853560" cy="718560"/>
          </a:xfrm>
          <a:prstGeom prst="parallelogram">
            <a:avLst>
              <a:gd name="adj" fmla="val 30987"/>
            </a:avLst>
          </a:prstGeom>
          <a:solidFill>
            <a:srgbClr val="b5e77d">
              <a:alpha val="49000"/>
            </a:srgbClr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" name=""/>
          <p:cNvSpPr/>
          <p:nvPr/>
        </p:nvSpPr>
        <p:spPr>
          <a:xfrm>
            <a:off x="7640280" y="100800"/>
            <a:ext cx="1199880" cy="369360"/>
          </a:xfrm>
          <a:prstGeom prst="parallelogram">
            <a:avLst>
              <a:gd name="adj" fmla="val 88517"/>
            </a:avLst>
          </a:prstGeom>
          <a:solidFill>
            <a:srgbClr val="81aca6">
              <a:alpha val="39000"/>
            </a:srgbClr>
          </a:solidFill>
          <a:ln w="10800">
            <a:noFill/>
          </a:ln>
          <a:effectLst>
            <a:outerShdw blurRad="0" dir="0" dist="0" rotWithShape="0">
              <a:srgbClr val="b2b2b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" name=""/>
          <p:cNvSpPr/>
          <p:nvPr/>
        </p:nvSpPr>
        <p:spPr>
          <a:xfrm>
            <a:off x="270000" y="180000"/>
            <a:ext cx="9538560" cy="4858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8160" dir="2700000" dist="101823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eeeeee"/>
              </a:solidFill>
              <a:latin typeface="Arial"/>
              <a:ea typeface="DejaVu Sans"/>
            </a:endParaRPr>
          </a:p>
        </p:txBody>
      </p:sp>
      <p:sp>
        <p:nvSpPr>
          <p:cNvPr id="31" name="rest2"/>
          <p:cNvSpPr/>
          <p:nvPr/>
        </p:nvSpPr>
        <p:spPr>
          <a:xfrm>
            <a:off x="7969320" y="162360"/>
            <a:ext cx="903960" cy="114228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" name=""/>
          <p:cNvSpPr/>
          <p:nvPr/>
        </p:nvSpPr>
        <p:spPr>
          <a:xfrm>
            <a:off x="270000" y="471600"/>
            <a:ext cx="8930160" cy="628560"/>
          </a:xfrm>
          <a:prstGeom prst="rect">
            <a:avLst/>
          </a:prstGeom>
          <a:solidFill>
            <a:srgbClr val="b5e77d"/>
          </a:solidFill>
          <a:ln w="10800">
            <a:solidFill>
              <a:srgbClr val="91d93f"/>
            </a:solidFill>
            <a:round/>
          </a:ln>
          <a:effectLst>
            <a:outerShdw blurRad="12600" dir="2700000" dist="16800" rotWithShape="0">
              <a:srgbClr val="b2b2b2">
                <a:alpha val="4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" name=""/>
          <p:cNvSpPr/>
          <p:nvPr/>
        </p:nvSpPr>
        <p:spPr>
          <a:xfrm>
            <a:off x="111600" y="471600"/>
            <a:ext cx="246960" cy="628560"/>
          </a:xfrm>
          <a:prstGeom prst="rect">
            <a:avLst/>
          </a:prstGeom>
          <a:solidFill>
            <a:srgbClr val="b5e77d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4" name="rect1"/>
          <p:cNvSpPr/>
          <p:nvPr/>
        </p:nvSpPr>
        <p:spPr>
          <a:xfrm>
            <a:off x="7969320" y="100800"/>
            <a:ext cx="903240" cy="77760"/>
          </a:xfrm>
          <a:prstGeom prst="rect">
            <a:avLst/>
          </a:prstGeom>
          <a:solidFill>
            <a:srgbClr val="81aca6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4200" bIns="342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7"/>
          </p:nvPr>
        </p:nvSpPr>
        <p:spPr>
          <a:xfrm>
            <a:off x="3447360" y="5164920"/>
            <a:ext cx="319356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eeeee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8"/>
          </p:nvPr>
        </p:nvSpPr>
        <p:spPr>
          <a:xfrm>
            <a:off x="7227000" y="5164920"/>
            <a:ext cx="234684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5F143E-2383-4941-B062-C25D2440B952}" type="slidenum">
              <a:rPr b="0" lang="en-US" sz="1400" spc="-1" strike="noStrike">
                <a:solidFill>
                  <a:srgbClr val="eeeeee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9"/>
          </p:nvPr>
        </p:nvSpPr>
        <p:spPr>
          <a:xfrm>
            <a:off x="504000" y="5164920"/>
            <a:ext cx="234684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8560" cy="62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Module 2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540000" y="1350000"/>
            <a:ext cx="899856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200" spc="-1" strike="noStrike">
                <a:solidFill>
                  <a:srgbClr val="000000"/>
                </a:solidFill>
                <a:latin typeface="Times New Roman"/>
              </a:rPr>
              <a:t>Booting System in Linux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8560" cy="62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Booting system in Linux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1200" y="1600200"/>
            <a:ext cx="8998560" cy="299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903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49032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The boot process is the sequence of events that happens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49032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when you turn on your computer until the operating system (like Linux) is fully loaded and ready to use.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4903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8560" cy="62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POST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01200" y="916200"/>
            <a:ext cx="8771400" cy="377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903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49032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When the power button is pressed, the motherboard sends a signal to the power        supply.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49032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The power supply provides power to the components, and the CPU starts.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49032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The CPU runs the POST (Power-On Self-Test) which is a series of tests to check     that the hardware (CPU, RAM, disk, etc.) is working.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49032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If POST passes, the motherboard emits a single beep (if a speaker is attached) and   proceeds.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4903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8560" cy="62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   </a:t>
            </a: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BIOS/UEFI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97200" y="975600"/>
            <a:ext cx="9275040" cy="368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999"/>
          </a:bodyPr>
          <a:p>
            <a:pPr marL="324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The BIOS (Basic Input/Output System) or UEFI (Unified Extensible Firmware Interface) is firmware stored on a chip on the motherboard (CMOS battery) 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It initializes the hardware (sets up the system clock, detects the amount of RAM, etc.).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It then looks for a bootable device (hard disk, USB, CD-ROM) in the order set in the boot sequence.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Once a bootable device is found, it reads the first sector (512 bytes) known as the MBR (Master Boot Record) or, in the case of UEFI, it looks for a FAT32 partition with an EFI system.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8560" cy="62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   </a:t>
            </a: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Bootloader (GRUB)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39600" y="1168200"/>
            <a:ext cx="8418240" cy="35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333" lnSpcReduction="10000"/>
          </a:bodyPr>
          <a:p>
            <a:pPr marL="324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The MBR contains the first stage of the bootloader (GRUB stage 1). Because the MBR is only 512 bytes, it's very small and only loads the next stage.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GRUB stage 1.5 (located in the next sectors) understands the filesystem and loads the second stage (GRUB stage 2) which is more advanced.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GRUB stage 2 displays a menu (if configured) to choose the operating system or kernel.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Once a selection is made, GRUB loads the Linux kernel and the initramfs (initial RAM filesystem) into memory.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8560" cy="62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Times New Roman"/>
              </a:rPr>
              <a:t>  </a:t>
            </a: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 </a:t>
            </a: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Linux Kernel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21200" y="1456200"/>
            <a:ext cx="8998560" cy="342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24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The kernel is the core of the operating system. It takes control from the bootloader.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It decompresses itself (if it was compressed) and initializes the system's hardware (CPU, memory, I/O subsystems).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It then mounts the initramfs as a temporary root filesystem.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8560" cy="62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Times New Roman"/>
              </a:rPr>
              <a:t>  </a:t>
            </a: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 </a:t>
            </a: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Initramfs: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21200" y="1456200"/>
            <a:ext cx="8998560" cy="342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24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The initramfs contains necessary drivers and tools that are required to mount the real root filesystem.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This is especially important if the root filesystem is on a RAID array, LVM, or encrypted partition.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Once the real root filesystem is mounted, the initramfs is discarded and the kernel switches to the real root.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8560" cy="62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   </a:t>
            </a: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Systemd (or init):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21200" y="1456200"/>
            <a:ext cx="8998560" cy="342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24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The kernel starts the first process, which is systemd (in modern Linux distributions) or init (in older ones).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Systemd (or init) is responsible for starting all the services and processes.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It reads the default runlevels or target (for systemd) and starts the services accordingly.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5983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5983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8560" cy="62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   </a:t>
            </a: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Runlevels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169200" y="880200"/>
            <a:ext cx="9431640" cy="392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666"/>
          </a:bodyPr>
          <a:p>
            <a:pPr marL="324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Runlevels (0-6) or targets (in systemd) define the state of the system (e.g., multi-user, graphical, rescue).Common runlevels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0: Halt                                            1: Single-user mode (maintenance)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2: Multi-user without network      3: Multi-user with network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4: Unused                                      5: Graphical mode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55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6: Reboot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Systemd uses targets (like graphical.target, multi-user.target) which are more flexible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8560" cy="62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   </a:t>
            </a: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Init Process &amp; Runlevels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61" name=""/>
          <p:cNvGraphicFramePr/>
          <p:nvPr/>
        </p:nvGraphicFramePr>
        <p:xfrm>
          <a:off x="421200" y="1456200"/>
          <a:ext cx="9179640" cy="4131360"/>
        </p:xfrm>
        <a:graphic>
          <a:graphicData uri="http://schemas.openxmlformats.org/drawingml/2006/table">
            <a:tbl>
              <a:tblPr/>
              <a:tblGrid>
                <a:gridCol w="1517760"/>
                <a:gridCol w="2063880"/>
                <a:gridCol w="5598360"/>
              </a:tblGrid>
              <a:tr h="355680"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0" lang="en-US" sz="10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         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Runlevel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bf671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             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  </a:t>
                      </a: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Mode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bf671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                    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Description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bbf671"/>
                    </a:solidFill>
                  </a:tcPr>
                </a:tc>
              </a:tr>
              <a:tr h="355680">
                <a:tc>
                  <a:txBody>
                    <a:bodyPr lIns="36000" rIns="360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        </a:t>
                      </a: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         </a:t>
                      </a: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Halt   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   </a:t>
                      </a: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Shuts down the system</a:t>
                      </a:r>
                      <a:endParaRPr b="0" lang="en-US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9000">
                <a:tc>
                  <a:txBody>
                    <a:bodyPr lIns="36000" rIns="360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        </a:t>
                      </a: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Single-user mode</a:t>
                      </a:r>
                      <a:endParaRPr b="0" lang="en-US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 </a:t>
                      </a: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  </a:t>
                      </a: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Maintenance, no network</a:t>
                      </a:r>
                      <a:endParaRPr b="0" lang="en-US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6120">
                <a:tc>
                  <a:txBody>
                    <a:bodyPr lIns="36000" rIns="360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        </a:t>
                      </a: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Times New Roman"/>
                        </a:rPr>
                        <a:t>Multi-user without          network</a:t>
                      </a:r>
                      <a:endParaRPr b="0" lang="en-US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   </a:t>
                      </a: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Multiple users, no NFS</a:t>
                      </a:r>
                      <a:endParaRPr b="0" lang="en-US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9000">
                <a:tc>
                  <a:txBody>
                    <a:bodyPr lIns="36000" rIns="360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        </a:t>
                      </a: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Multi-user with               network</a:t>
                      </a:r>
                      <a:endParaRPr b="0" lang="en-US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   </a:t>
                      </a: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Standard server mode (text)</a:t>
                      </a:r>
                      <a:endParaRPr b="0" lang="en-US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9000">
                <a:tc>
                  <a:txBody>
                    <a:bodyPr lIns="36000" rIns="360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        </a:t>
                      </a: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 </a:t>
                      </a: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Unused / Custom</a:t>
                      </a:r>
                      <a:endParaRPr b="0" lang="en-US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   </a:t>
                      </a: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Reserved</a:t>
                      </a:r>
                      <a:endParaRPr b="0" lang="en-US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55680">
                <a:tc>
                  <a:txBody>
                    <a:bodyPr lIns="36000" rIns="360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        </a:t>
                      </a: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 </a:t>
                      </a: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Graphical mode </a:t>
                      </a:r>
                      <a:endParaRPr b="0" lang="en-US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   </a:t>
                      </a: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Desktop mode with GUI</a:t>
                      </a:r>
                      <a:endParaRPr b="0" lang="en-US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55680">
                <a:tc>
                  <a:txBody>
                    <a:bodyPr lIns="36000" rIns="3600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        </a:t>
                      </a: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     </a:t>
                      </a: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Reboot</a:t>
                      </a:r>
                      <a:endParaRPr b="0" lang="en-US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    </a:t>
                      </a: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Restarts the system</a:t>
                      </a:r>
                      <a:endParaRPr b="0" lang="en-US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8560" cy="62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Times New Roman"/>
              </a:rPr>
              <a:t>  </a:t>
            </a: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 </a:t>
            </a: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Login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21200" y="1456200"/>
            <a:ext cx="8998560" cy="342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24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324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Once all the services are started, the system presents a login prompt (text mode) or a graphical login screen (if in runlevels 5 or graphical.target).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24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1d93f"/>
              </a:buClr>
              <a:buSzPct val="70000"/>
              <a:buFont typeface="Wingdings" charset="2"/>
              <a:buChar char="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After successful login, the user gets a shell or the desktop environment.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24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5983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5983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5983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8560" cy="62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Times New Roman"/>
              </a:rPr>
              <a:t>   </a:t>
            </a: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Boot Process Flow Diagram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486360" y="2539800"/>
            <a:ext cx="9114480" cy="137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8560" cy="62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Times New Roman"/>
              </a:rPr>
              <a:t>   </a:t>
            </a: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Visual Boot Timeline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PlaceHolder 16"/>
          <p:cNvSpPr/>
          <p:nvPr/>
        </p:nvSpPr>
        <p:spPr>
          <a:xfrm>
            <a:off x="385560" y="952200"/>
            <a:ext cx="8998560" cy="402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50000"/>
          </a:bodyPr>
          <a:p>
            <a:pPr marL="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┌─────────────────────────────────────────────────────────────────────┐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│                                                            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LINUX BOOT TIMELINE                                                                                           │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├─────────────────────────────────────────────────────────────────────┤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│  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BIOS/UEFI              →               GRUB          →               Kernel              →               Initramfs            →     systemd        │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│      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(1-3 sec)                                  ( 2-5 sec)                         (1-2 sec)                               (1-3 sec)                    (5-10 sec)      │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├─────────────────────────────────────────────────────────────────────┤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│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Hardware           │       Bootloader          │           OS Core                │          Prep Root              │           Services                │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│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Initialization       │      Menu &amp; Load     │         Initialization            │          Filesystem             │            Startup                │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└─────────────────────────────────────────────────────────────────────┘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5983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5983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59832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8560" cy="62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700" spc="-1" strike="noStrike">
                <a:solidFill>
                  <a:srgbClr val="000000"/>
                </a:solidFill>
                <a:latin typeface="Times New Roman"/>
              </a:rPr>
              <a:t>Simple View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9" name="" descr=""/>
          <p:cNvPicPr/>
          <p:nvPr/>
        </p:nvPicPr>
        <p:blipFill>
          <a:blip r:embed="rId1"/>
          <a:stretch/>
        </p:blipFill>
        <p:spPr>
          <a:xfrm>
            <a:off x="457200" y="2286000"/>
            <a:ext cx="9143640" cy="190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2025-12-12T22:45:31Z</dcterms:created>
  <dc:creator/>
  <dc:description/>
  <dc:language>en-US</dc:language>
  <cp:lastModifiedBy/>
  <dcterms:modified xsi:type="dcterms:W3CDTF">2025-12-18T23:22:03Z</dcterms:modified>
  <cp:revision>10</cp:revision>
  <dc:subject/>
  <dc:title>Inspiration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