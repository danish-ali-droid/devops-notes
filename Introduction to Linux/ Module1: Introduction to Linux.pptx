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6E78E5-536F-45EE-A695-9E93D40D24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BE98890-8B6E-4614-A142-0ECE0BA30F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6916F3-9804-43D8-825B-3901E90C4F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rot="16200000">
            <a:off x="43920" y="539640"/>
            <a:ext cx="854280" cy="71928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7640280" y="100800"/>
            <a:ext cx="1200600" cy="37008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270000" y="180000"/>
            <a:ext cx="9539280" cy="4859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3" name="rest2"/>
          <p:cNvSpPr/>
          <p:nvPr/>
        </p:nvSpPr>
        <p:spPr>
          <a:xfrm>
            <a:off x="7969320" y="162360"/>
            <a:ext cx="904680" cy="114300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270000" y="471600"/>
            <a:ext cx="8930880" cy="62928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111600" y="471600"/>
            <a:ext cx="247680" cy="62928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rect1"/>
          <p:cNvSpPr/>
          <p:nvPr/>
        </p:nvSpPr>
        <p:spPr>
          <a:xfrm>
            <a:off x="7969320" y="100800"/>
            <a:ext cx="903960" cy="7848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3447360" y="5164920"/>
            <a:ext cx="319428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2CEEEF-F762-4B50-A99F-D13C0936DF6C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3"/>
          </p:nvPr>
        </p:nvSpPr>
        <p:spPr>
          <a:xfrm>
            <a:off x="504000" y="516492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16200000">
            <a:off x="43920" y="539640"/>
            <a:ext cx="854280" cy="71928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7640280" y="100800"/>
            <a:ext cx="1200600" cy="37008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270000" y="180000"/>
            <a:ext cx="9539280" cy="4859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15" name="rest2"/>
          <p:cNvSpPr/>
          <p:nvPr/>
        </p:nvSpPr>
        <p:spPr>
          <a:xfrm>
            <a:off x="7969320" y="162360"/>
            <a:ext cx="904680" cy="114300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270000" y="471600"/>
            <a:ext cx="8930880" cy="62928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111600" y="471600"/>
            <a:ext cx="247680" cy="62928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rect1"/>
          <p:cNvSpPr/>
          <p:nvPr/>
        </p:nvSpPr>
        <p:spPr>
          <a:xfrm>
            <a:off x="7969320" y="100800"/>
            <a:ext cx="903960" cy="7848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4"/>
          </p:nvPr>
        </p:nvSpPr>
        <p:spPr>
          <a:xfrm>
            <a:off x="3447360" y="5164920"/>
            <a:ext cx="319428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5"/>
          </p:nvPr>
        </p:nvSpPr>
        <p:spPr>
          <a:xfrm>
            <a:off x="7227000" y="516492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143FC7-9A01-4484-9D73-0E91F0E3118C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6"/>
          </p:nvPr>
        </p:nvSpPr>
        <p:spPr>
          <a:xfrm>
            <a:off x="504000" y="516492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16200000">
            <a:off x="43920" y="539640"/>
            <a:ext cx="854280" cy="71928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7640280" y="100800"/>
            <a:ext cx="1200600" cy="37008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270000" y="180000"/>
            <a:ext cx="9539280" cy="4859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29" name="rest2"/>
          <p:cNvSpPr/>
          <p:nvPr/>
        </p:nvSpPr>
        <p:spPr>
          <a:xfrm>
            <a:off x="7969320" y="162360"/>
            <a:ext cx="904680" cy="114300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270000" y="471600"/>
            <a:ext cx="8930880" cy="62928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111600" y="471600"/>
            <a:ext cx="247680" cy="62928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rect1"/>
          <p:cNvSpPr/>
          <p:nvPr/>
        </p:nvSpPr>
        <p:spPr>
          <a:xfrm>
            <a:off x="7969320" y="100800"/>
            <a:ext cx="903960" cy="7848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7"/>
          </p:nvPr>
        </p:nvSpPr>
        <p:spPr>
          <a:xfrm>
            <a:off x="3447360" y="5164920"/>
            <a:ext cx="319428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8"/>
          </p:nvPr>
        </p:nvSpPr>
        <p:spPr>
          <a:xfrm>
            <a:off x="7227000" y="516492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6B56BF-3681-46A9-8BCF-F64319C646BE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9"/>
          </p:nvPr>
        </p:nvSpPr>
        <p:spPr>
          <a:xfrm>
            <a:off x="504000" y="516492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Module 1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40000" y="1350000"/>
            <a:ext cx="899928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000000"/>
                </a:solidFill>
                <a:latin typeface="Times New Roman"/>
              </a:rPr>
              <a:t>Introduction to Linux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History of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1200" y="1600200"/>
            <a:ext cx="8999280" cy="299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Unix: Developed in 1969 by Dennis Ritchie and Ken Thompson. It was initially designed for Power System, Motorola, and HP systems.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Linux: Developed in 1991 by Linus Torvalds. It is an operating system that is Unix-like.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"Linus" → "Linux"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"Unix" → "Linux"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GNU: The term stands for "GNU's Not Unix."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GNU made many tools (compiler, editor, libraries) but not the kernel.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History of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21200" y="1456200"/>
            <a:ext cx="8999280" cy="34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111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1992–1994 – Linux Becomes Free &amp; Powerful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In 1992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4752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 was released under GNU GPL license (Free Software License).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475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This allowed: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31328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Anyone to use Linux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31328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Anyone to modify Linux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31328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Anyone to share Linux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In 1994: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 kernel version 1.0 was released.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became stable enough to use publicly.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History of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29200" y="1492200"/>
            <a:ext cx="8999280" cy="34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1995– Rise of Linux Distributions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 alone is just a kernel.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Different organizations started adding software + tools to make complete OS versions called "Linux distributions".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Popular early distributions: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Slackware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Debian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Red Hat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History of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29200" y="1348200"/>
            <a:ext cx="9071280" cy="360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2000s – Linux Goes Enterprise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Large companies started using Linux because: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is stable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Secure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Free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Companies like: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Google                         Amazon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IBM                             Facebook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All started building their systems using Linux.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Flavor of Unix And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29200" y="1348200"/>
            <a:ext cx="9071280" cy="360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Unix Family: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Includes Unix, HP-UX, IBM → (AIX), Mac OS, and Solaris.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 (Major Communities):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Red Hat Communities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Debian Communities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Red Hat Communities: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Includes Red Hat Enterprise Linux, CentOS and fedora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Debian Communities: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Includes Ubuntu, Mint, Kali and OpenSuse.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Flavor of Unix And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9200" y="1348200"/>
            <a:ext cx="9071280" cy="360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Unix Family:</a:t>
            </a: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Includes Unix, HP-UX, IBM → (AIX), Mac OS, and Solaris.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 (Major Communities):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Red Hat Communities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0555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Debian Communities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Red Hat Communities: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Includes Red Hat Enterprise Linux, CentOS and fedora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Debian Communities: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Includes Ubuntu, Mint, Kali and OpenSuse.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Flavor of Unix And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1505160" y="1331280"/>
            <a:ext cx="6495120" cy="354240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Linux Kernel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29200" y="1348200"/>
            <a:ext cx="9071280" cy="360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6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 kernel is the core (heart) of the Linux operating system.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6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controls how software talks to hardware (CPU, RAM, storage, etc.).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6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Without the kernel, Linux OS can't work.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6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Controls running programs (processes).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   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9280" cy="62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Linux Kernel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29200" y="1348200"/>
            <a:ext cx="9071280" cy="360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6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Decides which program uses CPU and when.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6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Kernel Acts as a Mediator between the Shell and the Hardware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    </a:t>
            </a:r>
            <a:r>
              <a:rPr b="0" lang="en-US" sz="30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1" lang="en-US" sz="3000" spc="-1" strike="noStrike">
                <a:solidFill>
                  <a:srgbClr val="000000"/>
                </a:solidFill>
                <a:latin typeface="Times New Roman"/>
              </a:rPr>
              <a:t>Instruction→Shell→Kernel→Hardware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   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2025-12-12T22:45:31Z</dcterms:created>
  <dc:creator/>
  <dc:description/>
  <dc:language>en-US</dc:language>
  <cp:lastModifiedBy/>
  <dcterms:modified xsi:type="dcterms:W3CDTF">2025-12-18T21:10:16Z</dcterms:modified>
  <cp:revision>5</cp:revision>
  <dc:subject/>
  <dc:title>Inspiration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